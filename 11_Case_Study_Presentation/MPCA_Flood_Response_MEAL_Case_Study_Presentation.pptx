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08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acceptable FCS</c:v>
                </c:pt>
              </c:strCache>
            </c:strRef>
          </c:tx>
          <c:spPr>
            <a:solidFill>
              <a:srgbClr val="4282B9"/>
            </a:solidFill>
            <a:ln>
              <a:solidFill>
                <a:srgbClr val="4282B9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Follow-up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86.67</c:v>
                </c:pt>
                <c:pt idx="1">
                  <c:v>93.33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282B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8B1-44D6-A906-C798A868C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6DCDD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6DCDD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rCSI</c:v>
                </c:pt>
              </c:strCache>
            </c:strRef>
          </c:tx>
          <c:spPr>
            <a:solidFill>
              <a:srgbClr val="4282B9"/>
            </a:solidFill>
            <a:ln>
              <a:solidFill>
                <a:srgbClr val="4282B9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Follow-up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10.47</c:v>
                </c:pt>
                <c:pt idx="1">
                  <c:v>8.15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282B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DA8-41B2-8DE5-FAE8140698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6DCDD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6DCDD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FCFA</c:v>
                </c:pt>
              </c:strCache>
            </c:strRef>
          </c:tx>
          <c:spPr>
            <a:solidFill>
              <a:srgbClr val="4282B9"/>
            </a:solidFill>
            <a:ln>
              <a:solidFill>
                <a:srgbClr val="4282B9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Follow-up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58731.199999999997</c:v>
                </c:pt>
                <c:pt idx="1">
                  <c:v>68290.399999999994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282B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DF5-403C-BDB9-9D17E6DF0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6DCDD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6DCDD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09560" y="411480"/>
            <a:ext cx="3685032" cy="5925312"/>
          </a:xfrm>
          <a:prstGeom prst="rect">
            <a:avLst/>
          </a:prstGeom>
          <a:solidFill>
            <a:srgbClr val="1B4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75320" y="777240"/>
            <a:ext cx="2953512" cy="5193792"/>
          </a:xfrm>
          <a:prstGeom prst="rect">
            <a:avLst/>
          </a:prstGeom>
          <a:solidFill>
            <a:srgbClr val="23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8549640" y="4572000"/>
            <a:ext cx="384048" cy="502920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61704" y="4297680"/>
            <a:ext cx="384048" cy="777240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73767" y="3931920"/>
            <a:ext cx="384048" cy="1143000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85832" y="4114800"/>
            <a:ext cx="384048" cy="960120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97896" y="4416552"/>
            <a:ext cx="384048" cy="658368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Arc 10"/>
          <p:cNvSpPr/>
          <p:nvPr/>
        </p:nvSpPr>
        <p:spPr>
          <a:xfrm>
            <a:off x="8366760" y="1234440"/>
            <a:ext cx="2606040" cy="658368"/>
          </a:xfrm>
          <a:prstGeom prst="arc">
            <a:avLst/>
          </a:prstGeom>
          <a:noFill/>
          <a:ln w="15240">
            <a:solidFill>
              <a:srgbClr val="589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2" name="Arc 11"/>
          <p:cNvSpPr/>
          <p:nvPr/>
        </p:nvSpPr>
        <p:spPr>
          <a:xfrm>
            <a:off x="8366760" y="1947672"/>
            <a:ext cx="2606040" cy="658368"/>
          </a:xfrm>
          <a:prstGeom prst="arc">
            <a:avLst/>
          </a:prstGeom>
          <a:noFill/>
          <a:ln w="15240">
            <a:solidFill>
              <a:srgbClr val="589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Arc 12"/>
          <p:cNvSpPr/>
          <p:nvPr/>
        </p:nvSpPr>
        <p:spPr>
          <a:xfrm>
            <a:off x="8366760" y="2660904"/>
            <a:ext cx="2606040" cy="658368"/>
          </a:xfrm>
          <a:prstGeom prst="arc">
            <a:avLst/>
          </a:prstGeom>
          <a:noFill/>
          <a:ln w="15240">
            <a:solidFill>
              <a:srgbClr val="589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8366760" y="3374136"/>
            <a:ext cx="2606040" cy="658368"/>
          </a:xfrm>
          <a:prstGeom prst="arc">
            <a:avLst/>
          </a:prstGeom>
          <a:noFill/>
          <a:ln w="15240">
            <a:solidFill>
              <a:srgbClr val="589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158" y="1298448"/>
            <a:ext cx="750737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5400" b="1" dirty="0">
                <a:solidFill>
                  <a:srgbClr val="FFFFFF"/>
                </a:solidFill>
                <a:latin typeface="Aptos Display"/>
              </a:rPr>
              <a:t>MCPA FLOOD RESPONSE</a:t>
            </a:r>
            <a:endParaRPr sz="54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592" y="2144268"/>
            <a:ext cx="6355080" cy="804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fr-FR" sz="1420" b="1" i="1" dirty="0">
                <a:solidFill>
                  <a:srgbClr val="DCE6EB"/>
                </a:solidFill>
                <a:latin typeface="Aptos"/>
              </a:rPr>
              <a:t>When flooding disrupts households ressources, cash assistance becomes a question of delivery,  access and outcomes.</a:t>
            </a:r>
            <a:endParaRPr sz="1420" b="1" i="1" dirty="0">
              <a:solidFill>
                <a:srgbClr val="DCE6E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2674" y="24231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 i="0" dirty="0">
                <a:solidFill>
                  <a:srgbClr val="C2D6DD"/>
                </a:solidFill>
                <a:latin typeface="Aptos"/>
              </a:rPr>
              <a:t>COASTAL CÔTE D’IVOIRE  ·  SIMULATED 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552" y="6500033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MEAL PORTFOLIO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CDDCE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The response shows positive movement in household indicators, while delivery gaps remain.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3978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 dirty="0">
                <a:solidFill>
                  <a:srgbClr val="67747C"/>
                </a:solidFill>
                <a:latin typeface="Aptos"/>
              </a:rPr>
              <a:t>Baseline and follow-up results from the same 60-household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251460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112264"/>
            <a:ext cx="218541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1" i="0">
                <a:solidFill>
                  <a:srgbClr val="67747C"/>
                </a:solidFill>
                <a:latin typeface="Aptos"/>
              </a:rPr>
              <a:t>HOUSEHOLDS MONITORED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95728"/>
            <a:ext cx="218541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300" b="1" i="0">
                <a:solidFill>
                  <a:srgbClr val="113148"/>
                </a:solidFill>
                <a:latin typeface="Aptos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45536"/>
            <a:ext cx="2185416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0" i="0">
                <a:solidFill>
                  <a:srgbClr val="67747C"/>
                </a:solidFill>
                <a:latin typeface="Aptos"/>
              </a:rPr>
              <a:t>Eligible panel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965960"/>
            <a:ext cx="251460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38144" y="2112264"/>
            <a:ext cx="218541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1" i="0">
                <a:solidFill>
                  <a:srgbClr val="67747C"/>
                </a:solidFill>
                <a:latin typeface="Aptos"/>
              </a:rPr>
              <a:t>ACCEPTABLE FCS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395728"/>
            <a:ext cx="218541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300" b="1" i="0">
                <a:solidFill>
                  <a:srgbClr val="113148"/>
                </a:solidFill>
                <a:latin typeface="Aptos"/>
              </a:rPr>
              <a:t>93.33%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880360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 i="0">
                <a:solidFill>
                  <a:srgbClr val="1E8B87"/>
                </a:solidFill>
                <a:latin typeface="Aptos"/>
              </a:rPr>
              <a:t>+6.67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3145536"/>
            <a:ext cx="2185416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0" i="0">
                <a:solidFill>
                  <a:srgbClr val="67747C"/>
                </a:solidFill>
                <a:latin typeface="Aptos"/>
              </a:rPr>
              <a:t>Target ≥ 90%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2744" y="1965960"/>
            <a:ext cx="251460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17336" y="2112264"/>
            <a:ext cx="218541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1" i="0">
                <a:solidFill>
                  <a:srgbClr val="67747C"/>
                </a:solidFill>
                <a:latin typeface="Aptos"/>
              </a:rPr>
              <a:t>MEAN RCSI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7336" y="2395728"/>
            <a:ext cx="218541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300" b="1" i="0">
                <a:solidFill>
                  <a:srgbClr val="113148"/>
                </a:solidFill>
                <a:latin typeface="Aptos"/>
              </a:rPr>
              <a:t>8.15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2880360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 i="0">
                <a:solidFill>
                  <a:srgbClr val="1E8B87"/>
                </a:solidFill>
                <a:latin typeface="Aptos"/>
              </a:rPr>
              <a:t>−2.32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3145536"/>
            <a:ext cx="2185416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0" i="0">
                <a:solidFill>
                  <a:srgbClr val="67747C"/>
                </a:solidFill>
                <a:latin typeface="Aptos"/>
              </a:rPr>
              <a:t>Target ≤ 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1936" y="1965960"/>
            <a:ext cx="251460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96528" y="2112264"/>
            <a:ext cx="218541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1" i="0">
                <a:solidFill>
                  <a:srgbClr val="67747C"/>
                </a:solidFill>
                <a:latin typeface="Aptos"/>
              </a:rPr>
              <a:t>FULL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395728"/>
            <a:ext cx="218541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300" b="1" i="0">
                <a:solidFill>
                  <a:srgbClr val="113148"/>
                </a:solidFill>
                <a:latin typeface="Aptos"/>
              </a:rPr>
              <a:t>83.33%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880360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 i="0">
                <a:solidFill>
                  <a:srgbClr val="D2912A"/>
                </a:solidFill>
                <a:latin typeface="Aptos"/>
              </a:rPr>
              <a:t>−6.67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3145536"/>
            <a:ext cx="2185416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19" b="0" i="0">
                <a:solidFill>
                  <a:srgbClr val="67747C"/>
                </a:solidFill>
                <a:latin typeface="Aptos"/>
              </a:rPr>
              <a:t>Target ≥ 90%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58768"/>
            <a:ext cx="10552176" cy="310896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909059"/>
            <a:ext cx="10332719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113148"/>
                </a:solidFill>
                <a:latin typeface="Aptos"/>
              </a:rPr>
              <a:t>WHAT THE EVIDENCE SAYS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15968"/>
            <a:ext cx="6812280" cy="16916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63138"/>
                </a:solidFill>
                <a:latin typeface="Aptos"/>
              </a:defRPr>
            </a:pPr>
            <a:r>
              <a:t>•  Food consumption status improved between baseline and follow-up.</a:t>
            </a:r>
          </a:p>
          <a:p>
            <a:pPr>
              <a:spcAft>
                <a:spcPts val="700"/>
              </a:spcAft>
              <a:defRPr sz="1200">
                <a:solidFill>
                  <a:srgbClr val="263138"/>
                </a:solidFill>
                <a:latin typeface="Aptos"/>
              </a:defRPr>
            </a:pPr>
            <a:r>
              <a:t>•  Food-related coping decreased over the same measurement period.</a:t>
            </a:r>
          </a:p>
          <a:p>
            <a:pPr>
              <a:spcAft>
                <a:spcPts val="700"/>
              </a:spcAft>
              <a:defRPr sz="1200">
                <a:solidFill>
                  <a:srgbClr val="263138"/>
                </a:solidFill>
                <a:latin typeface="Aptos"/>
              </a:defRPr>
            </a:pPr>
            <a:r>
              <a:t>•  Monthly per-capita economic capacity increased, but adequacy cannot be classified without a contextual MEB/SMEB reference.</a:t>
            </a:r>
          </a:p>
          <a:p>
            <a:pPr>
              <a:spcAft>
                <a:spcPts val="700"/>
              </a:spcAft>
              <a:defRPr sz="1200">
                <a:solidFill>
                  <a:srgbClr val="263138"/>
                </a:solidFill>
                <a:latin typeface="Aptos"/>
              </a:defRPr>
            </a:pPr>
            <a:r>
              <a:t>•  Cash delivery was not complete for all eligible households: 6 received partial transfers and 4 did not receive MPCA.</a:t>
            </a:r>
          </a:p>
          <a:p>
            <a:pPr>
              <a:spcAft>
                <a:spcPts val="700"/>
              </a:spcAft>
              <a:defRPr sz="1200">
                <a:solidFill>
                  <a:srgbClr val="263138"/>
                </a:solidFill>
                <a:latin typeface="Aptos"/>
              </a:defRPr>
            </a:pPr>
            <a:r>
              <a:t>•  Cash access was broadly successful among assisted households, with 53 of 56 reporting successful access.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4270248"/>
            <a:ext cx="315468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65008" y="4489704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D2912A"/>
                </a:solidFill>
                <a:latin typeface="Aptos"/>
              </a:rPr>
              <a:t>Interpretation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4837176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 i="0">
                <a:solidFill>
                  <a:srgbClr val="263138"/>
                </a:solidFill>
                <a:latin typeface="Aptos"/>
              </a:rPr>
              <a:t>Two measured points describe change over time. They do not establish causal attribution.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Flooding disrupted livelihoods and household resources, increasing pressure on essential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2479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 dirty="0">
                <a:solidFill>
                  <a:srgbClr val="67747C"/>
                </a:solidFill>
                <a:latin typeface="Aptos"/>
              </a:rPr>
              <a:t>The simulated response uses MPCA to support vulnerable affected households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93392"/>
            <a:ext cx="3657600" cy="3584448"/>
          </a:xfrm>
          <a:prstGeom prst="rect">
            <a:avLst/>
          </a:prstGeom>
          <a:solidFill>
            <a:srgbClr val="11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7DDAD0"/>
                </a:solidFill>
                <a:latin typeface="Aptos"/>
              </a:rPr>
              <a:t>THE SHOCK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Flooding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73552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400" b="0" i="0">
                <a:solidFill>
                  <a:srgbClr val="DCE6EB"/>
                </a:solidFill>
                <a:latin typeface="Aptos"/>
              </a:rPr>
              <a:t>Livelihoods and household resources are disrupted.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1993392"/>
            <a:ext cx="3127248" cy="3584448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28032" y="228600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HOUSEHOLD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788920"/>
            <a:ext cx="2377440" cy="1554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138"/>
                </a:solidFill>
                <a:latin typeface="Aptos"/>
              </a:defRPr>
            </a:pPr>
            <a:r>
              <a:t>•  Difficulty covering food needs</a:t>
            </a:r>
          </a:p>
          <a:p>
            <a:pPr>
              <a:spcAft>
                <a:spcPts val="700"/>
              </a:spcAft>
              <a:defRPr sz="1300">
                <a:solidFill>
                  <a:srgbClr val="263138"/>
                </a:solidFill>
                <a:latin typeface="Aptos"/>
              </a:defRPr>
            </a:pPr>
            <a:r>
              <a:t>•  Pressure on essential household spending</a:t>
            </a:r>
          </a:p>
          <a:p>
            <a:pPr>
              <a:spcAft>
                <a:spcPts val="700"/>
              </a:spcAft>
              <a:defRPr sz="1300">
                <a:solidFill>
                  <a:srgbClr val="263138"/>
                </a:solidFill>
                <a:latin typeface="Aptos"/>
              </a:defRPr>
            </a:pPr>
            <a:r>
              <a:t>•  Need for additional purchasing power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1993392"/>
            <a:ext cx="3218688" cy="3584448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228600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679192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200" b="1" i="0">
                <a:solidFill>
                  <a:srgbClr val="113148"/>
                </a:solidFill>
                <a:latin typeface="Aptos"/>
              </a:rPr>
              <a:t>Multipurpose Cash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675887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>
                <a:solidFill>
                  <a:srgbClr val="263138"/>
                </a:solidFill>
                <a:latin typeface="Aptos"/>
              </a:rPr>
              <a:t>Eligible households receive planned cash assistance so they can access priority needs through functioning markets.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4114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2400" b="1">
                <a:solidFill>
                  <a:srgbClr val="1E2A2F"/>
                </a:solidFill>
                <a:latin typeface="Aptos"/>
              </a:rPr>
              <a:t>MEAL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34747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250" b="0">
                <a:solidFill>
                  <a:srgbClr val="555F62"/>
                </a:solidFill>
                <a:latin typeface="Aptos"/>
              </a:rPr>
              <a:t>The monitoring system follows the programme pathway from logic to evidence and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88720"/>
            <a:ext cx="11018520" cy="1115568"/>
          </a:xfrm>
          <a:prstGeom prst="roundRect">
            <a:avLst/>
          </a:prstGeom>
          <a:solidFill>
            <a:srgbClr val="ECF2F0"/>
          </a:solidFill>
          <a:ln>
            <a:solidFill>
              <a:srgbClr val="CD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2011680" cy="2286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374146"/>
                </a:solidFill>
                <a:latin typeface="Aptos"/>
              </a:rPr>
              <a:t>PROGRAMME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33472"/>
            <a:ext cx="11018520" cy="1115568"/>
          </a:xfrm>
          <a:prstGeom prst="roundRect">
            <a:avLst/>
          </a:prstGeom>
          <a:solidFill>
            <a:srgbClr val="EFF4F7"/>
          </a:solidFill>
          <a:ln>
            <a:solidFill>
              <a:srgbClr val="CD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679191"/>
            <a:ext cx="2011680" cy="2286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374146"/>
                </a:solidFill>
                <a:latin typeface="Aptos"/>
              </a:rPr>
              <a:t>MEASUREMENT &amp;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78224"/>
            <a:ext cx="11018520" cy="1115568"/>
          </a:xfrm>
          <a:prstGeom prst="roundRect">
            <a:avLst/>
          </a:prstGeom>
          <a:solidFill>
            <a:srgbClr val="F4F2EC"/>
          </a:solidFill>
          <a:ln>
            <a:solidFill>
              <a:srgbClr val="CD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123944"/>
            <a:ext cx="2011680" cy="2286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374146"/>
                </a:solidFill>
                <a:latin typeface="Aptos"/>
              </a:rPr>
              <a:t>ANALYSIS &amp;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508760"/>
            <a:ext cx="150876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61488" y="1527048"/>
            <a:ext cx="147218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250" b="1">
                <a:solidFill>
                  <a:srgbClr val="232D32"/>
                </a:solidFill>
                <a:latin typeface="Aptos"/>
              </a:rPr>
              <a:t>ToC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508760"/>
            <a:ext cx="214884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16" y="1527048"/>
            <a:ext cx="211226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250" b="1">
                <a:solidFill>
                  <a:srgbClr val="232D32"/>
                </a:solidFill>
                <a:latin typeface="Aptos"/>
              </a:rPr>
              <a:t>Results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1508760"/>
            <a:ext cx="150876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51775" y="1527048"/>
            <a:ext cx="147218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250" b="1">
                <a:solidFill>
                  <a:srgbClr val="232D32"/>
                </a:solidFill>
                <a:latin typeface="Aptos"/>
              </a:rPr>
              <a:t>Logframe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1755648"/>
            <a:ext cx="429768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30568" y="1755648"/>
            <a:ext cx="50292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7280" y="2953512"/>
            <a:ext cx="123444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119786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PMP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2953512"/>
            <a:ext cx="123444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15768" y="2971800"/>
            <a:ext cx="119786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KoBo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953512"/>
            <a:ext cx="141732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2971800"/>
            <a:ext cx="138074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953512"/>
            <a:ext cx="123444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2971800"/>
            <a:ext cx="119786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IPTT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2953512"/>
            <a:ext cx="141732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44967" y="2971800"/>
            <a:ext cx="138074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Follow-up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3200400"/>
            <a:ext cx="36576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31920" y="3200400"/>
            <a:ext cx="36576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15000" y="3200400"/>
            <a:ext cx="41148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60920" y="3200400"/>
            <a:ext cx="365759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325880" y="4398264"/>
            <a:ext cx="160020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44168" y="4416551"/>
            <a:ext cx="156362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Comparison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398264"/>
            <a:ext cx="141732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01568" y="4416551"/>
            <a:ext cx="138074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Findings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9240" y="4398264"/>
            <a:ext cx="141732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67527" y="4416551"/>
            <a:ext cx="138074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Decisions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398264"/>
            <a:ext cx="123444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33488" y="4416551"/>
            <a:ext cx="1197864" cy="4572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232D32"/>
                </a:solidFill>
                <a:latin typeface="Aptos"/>
              </a:rPr>
              <a:t>Actions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926080" y="4645152"/>
            <a:ext cx="45720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00600" y="4645152"/>
            <a:ext cx="54864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66559" y="4645152"/>
            <a:ext cx="548641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71616" y="2322576"/>
            <a:ext cx="0" cy="292608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71616" y="3767328"/>
            <a:ext cx="0" cy="292608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9808" y="5532120"/>
            <a:ext cx="10561320" cy="29260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4B5558"/>
                </a:solidFill>
                <a:latin typeface="Aptos"/>
              </a:rPr>
              <a:t>The same evidence base is carried forward so that indicators, interpretation and management actions remain traceable.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870448"/>
            <a:ext cx="9966960" cy="24688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50" b="0">
                <a:solidFill>
                  <a:srgbClr val="5F696C"/>
                </a:solidFill>
                <a:latin typeface="Aptos"/>
              </a:rPr>
              <a:t>The dashboard is the final presentation layer, not the starting point.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D328E1-37BE-4E80-AC1A-9E86AA55F22A}"/>
              </a:ext>
            </a:extLst>
          </p:cNvPr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 dirty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Food security indicators moved in a favourable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>
                <a:solidFill>
                  <a:srgbClr val="67747C"/>
                </a:solidFill>
                <a:latin typeface="Aptos"/>
              </a:rPr>
              <a:t>Same 60-household panel · baseline versus follow-up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38528"/>
            <a:ext cx="6583680" cy="3429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 i="0">
                <a:solidFill>
                  <a:srgbClr val="113148"/>
                </a:solidFill>
                <a:latin typeface="Aptos"/>
              </a:rPr>
              <a:t>Acceptable FCS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2670048"/>
          <a:ext cx="3977639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74920" y="29718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200" b="1" i="0">
                <a:solidFill>
                  <a:srgbClr val="1E8B87"/>
                </a:solidFill>
                <a:latin typeface="Aptos"/>
              </a:rPr>
              <a:t>+6.67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4564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 i="0">
                <a:solidFill>
                  <a:srgbClr val="67747C"/>
                </a:solidFill>
                <a:latin typeface="Aptos"/>
              </a:rPr>
              <a:t>Target ≥ 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06908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52 / 60 households were acceptable at baseline; 56 / 60 at follow-up.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8352" y="1938528"/>
            <a:ext cx="3767328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2672" y="22128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 i="0">
                <a:solidFill>
                  <a:srgbClr val="113148"/>
                </a:solidFill>
                <a:latin typeface="Aptos"/>
              </a:rPr>
              <a:t>Mean rCSI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662672" y="2670048"/>
          <a:ext cx="1965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811512" y="297180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000" b="1" i="0">
                <a:solidFill>
                  <a:srgbClr val="1E8B87"/>
                </a:solidFill>
                <a:latin typeface="Aptos"/>
              </a:rPr>
              <a:t>−2.32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1512" y="345643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 i="0">
                <a:solidFill>
                  <a:srgbClr val="67747C"/>
                </a:solidFill>
                <a:latin typeface="Aptos"/>
              </a:rPr>
              <a:t>Target ≤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1512" y="40690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 i="0">
                <a:solidFill>
                  <a:srgbClr val="263138"/>
                </a:solidFill>
                <a:latin typeface="Aptos"/>
              </a:rPr>
              <a:t>Lower rCSI indicates fewer food-related coping strategies.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623560"/>
            <a:ext cx="10561320" cy="310896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5673852"/>
            <a:ext cx="1034186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113148"/>
                </a:solidFill>
                <a:latin typeface="Aptos"/>
              </a:rPr>
              <a:t>READING THE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149840" cy="5303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0" i="0">
                <a:solidFill>
                  <a:srgbClr val="67747C"/>
                </a:solidFill>
                <a:latin typeface="Aptos"/>
              </a:rPr>
              <a:t>The observed movement is descriptive. It shows how the measured indicators changed between the two rounds; it does not by itself prove that MPCA caused the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COMPLICATION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Household indicators improved, but cash delivery was not complete for every eligible household.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2479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 dirty="0">
                <a:solidFill>
                  <a:srgbClr val="67747C"/>
                </a:solidFill>
                <a:latin typeface="Aptos"/>
              </a:rPr>
              <a:t>Operational performance needs to be read separately from outcome movement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21408"/>
            <a:ext cx="2240280" cy="1572768"/>
          </a:xfrm>
          <a:prstGeom prst="roundRect">
            <a:avLst/>
          </a:prstGeom>
          <a:solidFill>
            <a:srgbClr val="11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3865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89504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Eligible
households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791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800" b="1" i="0">
                <a:solidFill>
                  <a:srgbClr val="1E8B8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2121408"/>
            <a:ext cx="2240280" cy="1572768"/>
          </a:xfrm>
          <a:prstGeom prst="roundRect">
            <a:avLst/>
          </a:prstGeom>
          <a:solidFill>
            <a:srgbClr val="1E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7" y="23865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7" y="2889504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Received
some MPCA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6791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800" b="1" i="0">
                <a:solidFill>
                  <a:srgbClr val="1E8B8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121408"/>
            <a:ext cx="2240280" cy="1572768"/>
          </a:xfrm>
          <a:prstGeom prst="roundRect">
            <a:avLst/>
          </a:prstGeom>
          <a:solidFill>
            <a:srgbClr val="3A8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7" y="23865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889504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Received
full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6791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800" b="1" i="0">
                <a:solidFill>
                  <a:srgbClr val="1E8B8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2121408"/>
            <a:ext cx="2240280" cy="1572768"/>
          </a:xfrm>
          <a:prstGeom prst="roundRect">
            <a:avLst/>
          </a:prstGeom>
          <a:solidFill>
            <a:srgbClr val="1E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23865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889504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Accessed cash
successfully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160520"/>
            <a:ext cx="525780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416552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800" b="1" i="0">
                <a:solidFill>
                  <a:srgbClr val="D2912A"/>
                </a:solidFill>
                <a:latin typeface="Aptos"/>
              </a:rPr>
              <a:t>6 partial transfers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1888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0" i="0">
                <a:solidFill>
                  <a:srgbClr val="263138"/>
                </a:solidFill>
                <a:latin typeface="Aptos"/>
              </a:rPr>
              <a:t>4 eligible households did not receive MPCA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4160520"/>
            <a:ext cx="4983480" cy="1207008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440740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000" b="1" i="0">
                <a:solidFill>
                  <a:srgbClr val="1E8B87"/>
                </a:solidFill>
                <a:latin typeface="Aptos"/>
              </a:rPr>
              <a:t>53 / 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44398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 i="0">
                <a:solidFill>
                  <a:srgbClr val="113148"/>
                </a:solidFill>
                <a:latin typeface="Aptos"/>
              </a:rPr>
              <a:t>cash-access success  ·  94.64%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86460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0" i="0">
                <a:solidFill>
                  <a:srgbClr val="263138"/>
                </a:solidFill>
                <a:latin typeface="Aptos"/>
              </a:rPr>
              <a:t>3 of 56 assisted households reported access problems.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ECONOMIC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Economic capacity increased, but adequacy remains unclassified.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>
                <a:solidFill>
                  <a:srgbClr val="67747C"/>
                </a:solidFill>
                <a:latin typeface="Aptos"/>
              </a:rPr>
              <a:t>A responsible MEAL reading keeps the missing contextual benchmark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6629400" cy="356616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 i="0">
                <a:solidFill>
                  <a:srgbClr val="113148"/>
                </a:solidFill>
                <a:latin typeface="Aptos"/>
              </a:rPr>
              <a:t>Monthly per-capita economic capacity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2743200"/>
          <a:ext cx="42062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21808" y="2999232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100" b="1" i="0">
                <a:solidFill>
                  <a:srgbClr val="1E8B87"/>
                </a:solidFill>
                <a:latin typeface="Aptos"/>
              </a:rPr>
              <a:t>+9,559 FCFA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8" y="35021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E8B87"/>
                </a:solidFill>
                <a:latin typeface="Aptos"/>
              </a:rPr>
              <a:t>+16.3%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011680"/>
            <a:ext cx="3657600" cy="3566160"/>
          </a:xfrm>
          <a:prstGeom prst="rect">
            <a:avLst/>
          </a:prstGeom>
          <a:solidFill>
            <a:srgbClr val="EF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0688" y="235000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 i="0">
                <a:solidFill>
                  <a:srgbClr val="655091"/>
                </a:solidFill>
                <a:latin typeface="Aptos"/>
              </a:rPr>
              <a:t>Adequacy vs MEB / SMEB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85292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3100" b="1" i="0">
                <a:solidFill>
                  <a:srgbClr val="655091"/>
                </a:solidFill>
                <a:latin typeface="Aptos"/>
              </a:rPr>
              <a:t>TBD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520440"/>
            <a:ext cx="26974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 i="0">
                <a:solidFill>
                  <a:srgbClr val="263138"/>
                </a:solidFill>
                <a:latin typeface="Aptos"/>
              </a:rPr>
              <a:t>No contextual threshold is available in the case study.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3434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655091"/>
                </a:solidFill>
                <a:latin typeface="Aptos"/>
              </a:rPr>
              <a:t>Next evidence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4645152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0" i="0">
                <a:solidFill>
                  <a:srgbClr val="67747C"/>
                </a:solidFill>
                <a:latin typeface="Aptos"/>
              </a:rPr>
              <a:t>Obtain and validate the applicable MEB/SMEB reference before classifying adequacy.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The evidence points to both positive movement and operational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>
                <a:solidFill>
                  <a:srgbClr val="67747C"/>
                </a:solidFill>
                <a:latin typeface="Aptos"/>
              </a:rPr>
              <a:t>Stage 09 findings translated into an executive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38528"/>
            <a:ext cx="1056132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1E8B87"/>
                </a:solidFill>
                <a:latin typeface="Aptos"/>
              </a:rPr>
              <a:t>F01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4825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Food consumption status improved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2066544"/>
            <a:ext cx="5074920" cy="283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FCS acceptable: 86.67% → 93.33%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24328"/>
            <a:ext cx="1056132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1E8B87"/>
                </a:solidFill>
                <a:latin typeface="Aptos"/>
              </a:rPr>
              <a:t>F02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3405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Food-related coping decreased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752344"/>
            <a:ext cx="5074920" cy="283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Mean rCSI: 10.47 → 8.15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10128"/>
            <a:ext cx="1056132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655091"/>
                </a:solidFill>
                <a:latin typeface="Aptos"/>
              </a:rPr>
              <a:t>F03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41985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Economic capacity increased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3438144"/>
            <a:ext cx="5074920" cy="283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Adequacy remains unclassified without MEB/SMEB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995928"/>
            <a:ext cx="1056132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D2912A"/>
                </a:solidFill>
                <a:latin typeface="Aptos"/>
              </a:rPr>
              <a:t>F04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10565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Full-transfer delivery below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4123944"/>
            <a:ext cx="5074920" cy="283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83.33% versus target ≥ 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681728"/>
            <a:ext cx="1056132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1E8B87"/>
                </a:solidFill>
                <a:latin typeface="Aptos"/>
              </a:rPr>
              <a:t>F05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79145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Cash access broadly succeeded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4809744"/>
            <a:ext cx="5074920" cy="283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94.64% among 56 assisted households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367528"/>
            <a:ext cx="1056132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D2912A"/>
                </a:solidFill>
                <a:latin typeface="Aptos"/>
              </a:rPr>
              <a:t>F06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47725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Four eligible households did not receive MPCA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5495544"/>
            <a:ext cx="5074920" cy="283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56 / 60 received some assistance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Turn evidence into decisions, then make the response traceable 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>
                <a:solidFill>
                  <a:srgbClr val="67747C"/>
                </a:solidFill>
                <a:latin typeface="Aptos"/>
              </a:rPr>
              <a:t>Management actions are presented as proposed follow-up, not observed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4528" y="193852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13148"/>
                </a:solidFill>
                <a:latin typeface="Aptos"/>
              </a:rPr>
              <a:t>MANAGEMENT IMPLICATION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4696" y="1938528"/>
            <a:ext cx="33009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D2912A"/>
                </a:solidFill>
                <a:latin typeface="Aptos"/>
              </a:rPr>
              <a:t>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31720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24528" y="2331720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54696" y="2331720"/>
            <a:ext cx="3300984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48716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1" i="0">
                <a:solidFill>
                  <a:srgbClr val="113148"/>
                </a:solidFill>
                <a:latin typeface="Aptos"/>
              </a:rPr>
              <a:t>83.33% full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87168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Delivery below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87168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Reconcile 6 partial + 4 non-receipt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227832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3227832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54696" y="3227832"/>
            <a:ext cx="3300984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383279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1" i="0">
                <a:solidFill>
                  <a:srgbClr val="113148"/>
                </a:solidFill>
                <a:latin typeface="Aptos"/>
              </a:rPr>
              <a:t>3 access-problem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383279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Investigate barriers to cash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383279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Review channels, agents and case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123944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24528" y="4123944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54696" y="4123944"/>
            <a:ext cx="3300984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4279392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1" i="0">
                <a:solidFill>
                  <a:srgbClr val="113148"/>
                </a:solidFill>
                <a:latin typeface="Aptos"/>
              </a:rPr>
              <a:t>58,731 → 68,290 FCFA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27939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Positive movement, adequacy unknown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27939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Obtain / validate MEB or SMEB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020056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24528" y="5020056"/>
            <a:ext cx="3383280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54696" y="5020056"/>
            <a:ext cx="3300984" cy="758952"/>
          </a:xfrm>
          <a:prstGeom prst="rect">
            <a:avLst/>
          </a:prstGeom>
          <a:solidFill>
            <a:srgbClr val="F8F6F0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175504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1" i="0">
                <a:solidFill>
                  <a:srgbClr val="113148"/>
                </a:solidFill>
                <a:latin typeface="Aptos"/>
              </a:rPr>
              <a:t>Measurement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5175504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Some planned indicators cannot be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175504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263138"/>
                </a:solidFill>
                <a:latin typeface="Aptos"/>
              </a:rPr>
              <a:t>Restore timeframe, targeting and feedback variables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016752"/>
            <a:ext cx="10561320" cy="310896"/>
          </a:xfrm>
          <a:prstGeom prst="rect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6071616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900" b="1" i="0">
                <a:solidFill>
                  <a:srgbClr val="1E8B87"/>
                </a:solidFill>
                <a:latin typeface="Aptos"/>
              </a:rPr>
              <a:t>Evidence  →  Finding  →  Decision  →  Action  →  Follow-up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1E8B87"/>
                </a:solidFill>
                <a:latin typeface="Aptos"/>
              </a:rPr>
              <a:t>MEASUREMENT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700" b="1" i="0">
                <a:solidFill>
                  <a:srgbClr val="113148"/>
                </a:solidFill>
                <a:latin typeface="Aptos"/>
              </a:rPr>
              <a:t>A credible MEAL system makes its evidence limits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>
                <a:solidFill>
                  <a:srgbClr val="67747C"/>
                </a:solidFill>
                <a:latin typeface="Aptos"/>
              </a:rPr>
              <a:t>The next cycle should close the gaps that prevent full performance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105613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655091"/>
                </a:solidFill>
                <a:latin typeface="Aptos"/>
              </a:rPr>
              <a:t>K03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13055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Economic-capacity adequacy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39696"/>
            <a:ext cx="397763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MEB / SMEB reference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2176272"/>
            <a:ext cx="1874519" cy="393192"/>
          </a:xfrm>
          <a:prstGeom prst="roundRect">
            <a:avLst/>
          </a:prstGeom>
          <a:solidFill>
            <a:srgbClr val="65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42832" y="2267712"/>
            <a:ext cx="17647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TBD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26080"/>
            <a:ext cx="105613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D2912A"/>
                </a:solidFill>
                <a:latin typeface="Aptos"/>
              </a:rPr>
              <a:t>K08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4495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Delivery timeframe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54096"/>
            <a:ext cx="397763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Programme-defined timeframe not measured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3090672"/>
            <a:ext cx="1874519" cy="393192"/>
          </a:xfrm>
          <a:prstGeom prst="roundRect">
            <a:avLst/>
          </a:prstGeom>
          <a:solidFill>
            <a:srgbClr val="D2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42832" y="3182112"/>
            <a:ext cx="17647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Measurement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40480"/>
            <a:ext cx="105613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D2912A"/>
                </a:solidFill>
                <a:latin typeface="Aptos"/>
              </a:rPr>
              <a:t>Targeting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95935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Output 1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968496"/>
            <a:ext cx="397763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Required denominator / variable not 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4005072"/>
            <a:ext cx="1874519" cy="393192"/>
          </a:xfrm>
          <a:prstGeom prst="roundRect">
            <a:avLst/>
          </a:prstGeom>
          <a:solidFill>
            <a:srgbClr val="D2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42832" y="4096512"/>
            <a:ext cx="17647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Measurement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754880"/>
            <a:ext cx="105613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/>
            <a:r>
              <a:rPr sz="850" b="1" i="0">
                <a:solidFill>
                  <a:srgbClr val="D2912A"/>
                </a:solidFill>
                <a:latin typeface="Aptos"/>
              </a:rPr>
              <a:t>Communication &amp;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87375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113148"/>
                </a:solidFill>
                <a:latin typeface="Aptos"/>
              </a:rPr>
              <a:t>Output 3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82896"/>
            <a:ext cx="3977639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00" b="0" i="0">
                <a:solidFill>
                  <a:srgbClr val="67747C"/>
                </a:solidFill>
                <a:latin typeface="Aptos"/>
              </a:rPr>
              <a:t>Receipt / feedback indicators not captured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8" y="4919472"/>
            <a:ext cx="1874519" cy="393192"/>
          </a:xfrm>
          <a:prstGeom prst="roundRect">
            <a:avLst/>
          </a:prstGeom>
          <a:solidFill>
            <a:srgbClr val="D2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42832" y="5010912"/>
            <a:ext cx="17647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Measurement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989320"/>
            <a:ext cx="1001268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50" b="1" i="0">
                <a:solidFill>
                  <a:srgbClr val="113148"/>
                </a:solidFill>
                <a:latin typeface="Aptos"/>
              </a:rPr>
              <a:t>The absence of a measurement does not mean the programme performed poorly; it means the indicator cannot be responsibly classified.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 dirty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6774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7DDAD0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Close the operational and measurement gaps, then continue the evidence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481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50" b="0" i="0" dirty="0">
                <a:solidFill>
                  <a:srgbClr val="CEDEE6"/>
                </a:solidFill>
                <a:latin typeface="Aptos"/>
              </a:rPr>
              <a:t>A practical next MEAL cycle for the simulated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2996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1" i="0">
                <a:solidFill>
                  <a:srgbClr val="7DDAD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20299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Resolve delivery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002536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0" i="0">
                <a:solidFill>
                  <a:srgbClr val="D2E0E6"/>
                </a:solidFill>
                <a:latin typeface="Aptos"/>
              </a:rPr>
              <a:t>Reconcile partial transfers and non-receipts; investigate access problems.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2651760"/>
            <a:ext cx="9372600" cy="9144"/>
          </a:xfrm>
          <a:prstGeom prst="rect">
            <a:avLst/>
          </a:prstGeom>
          <a:solidFill>
            <a:srgbClr val="44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30632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1" i="0">
                <a:solidFill>
                  <a:srgbClr val="7DDAD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06324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Strengthen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035808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0" i="0">
                <a:solidFill>
                  <a:srgbClr val="D2E0E6"/>
                </a:solidFill>
                <a:latin typeface="Aptos"/>
              </a:rPr>
              <a:t>Define and capture delivery timeframe, targeting verification and communication/feedback indicators.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3685032"/>
            <a:ext cx="9372600" cy="9144"/>
          </a:xfrm>
          <a:prstGeom prst="rect">
            <a:avLst/>
          </a:prstGeom>
          <a:solidFill>
            <a:srgbClr val="44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409651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1" i="0">
                <a:solidFill>
                  <a:srgbClr val="7DDAD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09651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Contextualize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06908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0" i="0">
                <a:solidFill>
                  <a:srgbClr val="D2E0E6"/>
                </a:solidFill>
                <a:latin typeface="Aptos"/>
              </a:rPr>
              <a:t>Obtain and validate the applicable MEB/SMEB reference.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4718304"/>
            <a:ext cx="9372600" cy="9144"/>
          </a:xfrm>
          <a:prstGeom prst="rect">
            <a:avLst/>
          </a:prstGeom>
          <a:solidFill>
            <a:srgbClr val="44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12978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1" i="0">
                <a:solidFill>
                  <a:srgbClr val="7DDAD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51297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Continue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5102352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0" i="0">
                <a:solidFill>
                  <a:srgbClr val="D2E0E6"/>
                </a:solidFill>
                <a:latin typeface="Aptos"/>
              </a:rPr>
              <a:t>Repeat measurement, update IPTT and compare results across rounds.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" y="5751576"/>
            <a:ext cx="9372600" cy="9144"/>
          </a:xfrm>
          <a:prstGeom prst="rect">
            <a:avLst/>
          </a:prstGeom>
          <a:solidFill>
            <a:srgbClr val="44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589788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1" i="0">
                <a:solidFill>
                  <a:srgbClr val="7DDAD0"/>
                </a:solidFill>
                <a:latin typeface="Aptos"/>
              </a:rPr>
              <a:t>Portfolio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5852160"/>
            <a:ext cx="886968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MEAL connects programme logic, measurement, interpretation and management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>
                <a:solidFill>
                  <a:srgbClr val="CDDCE4"/>
                </a:solidFill>
                <a:latin typeface="Aptos"/>
              </a:rPr>
              <a:t>MPCA Flood Response  ·  MEAL Case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1" i="0">
                <a:solidFill>
                  <a:srgbClr val="CDDCE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4114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2400" b="1">
                <a:solidFill>
                  <a:srgbClr val="1E2A2F"/>
                </a:solidFill>
                <a:latin typeface="Aptos"/>
              </a:rPr>
              <a:t>PORTFOLIO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34747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250" b="0">
                <a:solidFill>
                  <a:srgbClr val="555F62"/>
                </a:solidFill>
                <a:latin typeface="Aptos"/>
              </a:rPr>
              <a:t>From programme logic to management decision and portfolio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69848"/>
            <a:ext cx="10881360" cy="2743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4B5558"/>
                </a:solidFill>
                <a:latin typeface="Aptos"/>
              </a:rPr>
              <a:t>The case study is supported by a traceable sequence of MEAL deliverables.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353312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591056"/>
            <a:ext cx="1316736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232D32"/>
                </a:solidFill>
                <a:latin typeface="Aptos"/>
              </a:rPr>
              <a:t>ToC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572768"/>
            <a:ext cx="1353312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05456" y="1591056"/>
            <a:ext cx="1316736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232D32"/>
                </a:solidFill>
                <a:latin typeface="Aptos"/>
              </a:rPr>
              <a:t>Results
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572768"/>
            <a:ext cx="1353312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6824" y="1591056"/>
            <a:ext cx="1316736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232D32"/>
                </a:solidFill>
                <a:latin typeface="Aptos"/>
              </a:rPr>
              <a:t>Logframe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572768"/>
            <a:ext cx="1353312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08192" y="1591056"/>
            <a:ext cx="1316736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232D32"/>
                </a:solidFill>
                <a:latin typeface="Aptos"/>
              </a:rPr>
              <a:t>PMP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1272" y="1572768"/>
            <a:ext cx="1353312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591056"/>
            <a:ext cx="1316736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232D32"/>
                </a:solidFill>
                <a:latin typeface="Aptos"/>
              </a:rPr>
              <a:t>KoBo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572768"/>
            <a:ext cx="1353312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10928" y="1591056"/>
            <a:ext cx="1316736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232D32"/>
                </a:solidFill>
                <a:latin typeface="Aptos"/>
              </a:rPr>
              <a:t>Baseline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39112" y="1901952"/>
            <a:ext cx="448056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40480" y="1901952"/>
            <a:ext cx="448056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41848" y="1901952"/>
            <a:ext cx="448056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43216" y="1901952"/>
            <a:ext cx="448056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44584" y="1901952"/>
            <a:ext cx="448056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2880360"/>
            <a:ext cx="14173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65208" y="2898648"/>
            <a:ext cx="1380744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60" b="1">
                <a:solidFill>
                  <a:srgbClr val="232D32"/>
                </a:solidFill>
                <a:latin typeface="Aptos"/>
              </a:rPr>
              <a:t>IPTT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880360"/>
            <a:ext cx="14173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36408" y="2898648"/>
            <a:ext cx="1380744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60" b="1">
                <a:solidFill>
                  <a:srgbClr val="232D32"/>
                </a:solidFill>
                <a:latin typeface="Aptos"/>
              </a:rPr>
              <a:t>Follow-up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2880360"/>
            <a:ext cx="150876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16168" y="2898648"/>
            <a:ext cx="1472184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60" b="1">
                <a:solidFill>
                  <a:srgbClr val="232D32"/>
                </a:solidFill>
                <a:latin typeface="Aptos"/>
              </a:rPr>
              <a:t>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2880360"/>
            <a:ext cx="16002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04487" y="2898648"/>
            <a:ext cx="1563624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60" b="1">
                <a:solidFill>
                  <a:srgbClr val="232D32"/>
                </a:solidFill>
                <a:latin typeface="Aptos"/>
              </a:rPr>
              <a:t>Findings &amp;
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2880360"/>
            <a:ext cx="14173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84248" y="2898648"/>
            <a:ext cx="1380744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60" b="1">
                <a:solidFill>
                  <a:srgbClr val="232D32"/>
                </a:solidFill>
                <a:latin typeface="Aptos"/>
              </a:rPr>
              <a:t>Power BI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2880360"/>
            <a:ext cx="132588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" y="2898648"/>
            <a:ext cx="1289304" cy="6217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60" b="1">
                <a:solidFill>
                  <a:srgbClr val="232D32"/>
                </a:solidFill>
                <a:latin typeface="Aptos"/>
              </a:rPr>
              <a:t>Presentation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9235440" y="3209544"/>
            <a:ext cx="41148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406640" y="3209544"/>
            <a:ext cx="41148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486400" y="3209544"/>
            <a:ext cx="41148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383280" y="3209544"/>
            <a:ext cx="50292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828800" y="3209544"/>
            <a:ext cx="13716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69296" y="2231136"/>
            <a:ext cx="0" cy="621792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3840480"/>
            <a:ext cx="2468880" cy="25603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374146"/>
                </a:solidFill>
                <a:latin typeface="Aptos"/>
              </a:rPr>
              <a:t>COMPLEMENTARY ACCOUNTABILITY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224528"/>
            <a:ext cx="1965960" cy="713232"/>
          </a:xfrm>
          <a:prstGeom prst="roundRect">
            <a:avLst/>
          </a:prstGeom>
          <a:solidFill>
            <a:srgbClr val="F6F2EB"/>
          </a:solidFill>
          <a:ln w="11430">
            <a:solidFill>
              <a:srgbClr val="AAB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" y="4242816"/>
            <a:ext cx="1929384" cy="67665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250" b="1">
                <a:solidFill>
                  <a:srgbClr val="232D32"/>
                </a:solidFill>
                <a:latin typeface="Aptos"/>
              </a:rPr>
              <a:t>FRM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52928" y="4160520"/>
            <a:ext cx="2971800" cy="80467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374146"/>
                </a:solidFill>
                <a:latin typeface="Aptos"/>
              </a:rPr>
              <a:t>Feedback &amp; response mechanism
Receive → register → respond → close → learn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51760" y="4581144"/>
            <a:ext cx="182880" cy="0"/>
          </a:xfrm>
          <a:prstGeom prst="line">
            <a:avLst/>
          </a:prstGeom>
          <a:ln w="15875">
            <a:solidFill>
              <a:srgbClr val="64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89320" y="4206240"/>
            <a:ext cx="4754880" cy="6583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1100" b="0">
                <a:solidFill>
                  <a:srgbClr val="4B5558"/>
                </a:solidFill>
                <a:latin typeface="Aptos"/>
              </a:rPr>
              <a:t>FRM feedback can inform findings, decisions and programme learning.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532120"/>
            <a:ext cx="10561320" cy="43891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374146"/>
                </a:solidFill>
                <a:latin typeface="Aptos"/>
              </a:rPr>
              <a:t>TRACEABLE MEAL EVIDENCE FLOW  ·  From programme logic to evidence, management action and case-study presentation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64805E-EB3A-4B95-9BA4-799DB8A09105}"/>
              </a:ext>
            </a:extLst>
          </p:cNvPr>
          <p:cNvSpPr txBox="1"/>
          <p:nvPr/>
        </p:nvSpPr>
        <p:spPr>
          <a:xfrm>
            <a:off x="504423" y="66395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50" b="0" i="0" dirty="0">
                <a:solidFill>
                  <a:srgbClr val="67747C"/>
                </a:solidFill>
                <a:latin typeface="Aptos"/>
              </a:rPr>
              <a:t>MPCA Flood Response  ·  MEAL Case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1116</Words>
  <Application>Microsoft Office PowerPoint</Application>
  <PresentationFormat>Widescreen</PresentationFormat>
  <Paragraphs>226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selone te selone</cp:lastModifiedBy>
  <cp:revision>8</cp:revision>
  <dcterms:created xsi:type="dcterms:W3CDTF">2013-01-27T09:14:16Z</dcterms:created>
  <dcterms:modified xsi:type="dcterms:W3CDTF">2026-09-18T02:22:55Z</dcterms:modified>
  <cp:category/>
</cp:coreProperties>
</file>